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  <ns0:embeddedFont>
      <ns0:font typeface="JetBrains Mono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3876129b-7f56-43a1-8079-6796b3d84931.fntdata" /><ns0:Relationship Id="rIdFont19" Type="http://schemas.openxmlformats.org/officeDocument/2006/relationships/font" Target="fonts/e6565807-78dc-46ed-900d-a1ebfec2553c.fntdata" /><ns0:Relationship Id="rIdFont20" Type="http://schemas.openxmlformats.org/officeDocument/2006/relationships/font" Target="fonts/302ad7d5-7527-4a59-9716-c0d77fda8bff.fntdata" /><ns0:Relationship Id="rIdFont21" Type="http://schemas.openxmlformats.org/officeDocument/2006/relationships/font" Target="fonts/ed549cdd-35c9-4871-a370-b3623bcf8b3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5448300"/>
            <a:ext cx="10953750" cy="790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" y="619125"/>
            <a:ext cx="2266950" cy="276225"/>
          </a:xfrm>
          <a:prstGeom prst="roundRect">
            <a:avLst>
              <a:gd name="adj" fmla="val 20689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5448300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" y="233749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50" y="5895975"/>
            <a:ext cx="390525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676275"/>
            <a:ext cx="2057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730A3"/>
                </a:solidFill>
                <a:latin typeface="Inter"/>
              </a:rPr>
              <a:t>Software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4675" y="619125"/>
            <a:ext cx="1123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JetBrains Mono"/>
              </a:rPr>
              <a:t>PFS-VSP-006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642294"/>
            <a:ext cx="10001250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0F172A"/>
                </a:solidFill>
                <a:latin typeface="Inter"/>
              </a:rPr>
              <a:t>Event Ticket Booking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3457575"/>
            <a:ext cx="7715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High-concurrency microservices design, seat selection engine, dynamic queue management, and secure transactional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299394"/>
            <a:ext cx="2893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Inter"/>
              </a:rPr>
              <a:t>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5772150"/>
            <a:ext cx="1464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0F172A"/>
                </a:solidFill>
                <a:latin typeface="Inter"/>
              </a:rPr>
              <a:t>PRESENTER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5981700"/>
            <a:ext cx="146446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N. Dileep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7900" y="5772150"/>
            <a:ext cx="1352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0F172A"/>
                </a:solidFill>
                <a:latin typeface="Inter"/>
              </a:rPr>
              <a:t>BATCH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7900" y="5981700"/>
            <a:ext cx="13525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pfs-vsp-006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0" y="5772150"/>
            <a:ext cx="1123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0F172A"/>
                </a:solidFill>
                <a:latin typeface="Inter"/>
              </a:rPr>
              <a:t>STUDENT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0" y="5981700"/>
            <a:ext cx="11239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F46E5"/>
                </a:solidFill>
                <a:latin typeface="JetBrains Mono"/>
              </a:rPr>
              <a:t>CGVI0205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57412" y="1299120"/>
            <a:ext cx="78771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57412" y="2442120"/>
            <a:ext cx="78771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57412" y="3585120"/>
            <a:ext cx="7877175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57412" y="2280195"/>
            <a:ext cx="7877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57412" y="1299120"/>
            <a:ext cx="7877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7412" y="1299120"/>
            <a:ext cx="38100" cy="990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25062" y="1299120"/>
            <a:ext cx="9525" cy="990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57412" y="3423195"/>
            <a:ext cx="7877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57412" y="2442120"/>
            <a:ext cx="7877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57412" y="2442120"/>
            <a:ext cx="38100" cy="990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25062" y="2442120"/>
            <a:ext cx="9525" cy="990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57412" y="4566195"/>
            <a:ext cx="7877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57412" y="3585120"/>
            <a:ext cx="7877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57412" y="3585120"/>
            <a:ext cx="38100" cy="990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25062" y="3585120"/>
            <a:ext cx="9525" cy="990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4880520"/>
            <a:ext cx="4191000" cy="419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5080545"/>
            <a:ext cx="3790950" cy="3790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EXECUTIVE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System Overview &amp; Domain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4112" y="1537245"/>
            <a:ext cx="967620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Real-Time 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4112" y="1822995"/>
            <a:ext cx="9215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Handles thousands of simultaneous checkout attempts during flash sales without ticket overselling.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4112" y="2680245"/>
            <a:ext cx="967620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Interactive Seat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4112" y="2965995"/>
            <a:ext cx="9215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Interactive venue layouts displaying live seat availability states with microsecond synchronization.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4112" y="3823245"/>
            <a:ext cx="967620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Transactional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4112" y="4108995"/>
            <a:ext cx="9215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Guarantees atomic ACID transactions during ticket reservation, payment processing, and confirmation.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9125" y="2761208"/>
            <a:ext cx="2595562" cy="2143125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5187" y="2761208"/>
            <a:ext cx="2595562" cy="2143125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761208"/>
            <a:ext cx="2595562" cy="2143125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77312" y="2761208"/>
            <a:ext cx="2595562" cy="2143125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999333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2" y="2999333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999333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437" y="2999333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104108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4275" y="3104108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104108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9737" y="3104108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FUNCTIONAL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Core Platform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532733"/>
            <a:ext cx="278159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Event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808958"/>
            <a:ext cx="2214562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Filter events by location, date, category, and popularity with sub-second indexing.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3312" y="3532733"/>
            <a:ext cx="278159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Seat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3312" y="3808958"/>
            <a:ext cx="2214562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Interactive venue layout mapping with temporary 10-minute hold lock during checkout.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532733"/>
            <a:ext cx="278159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Payment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808958"/>
            <a:ext cx="2214562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Integrated webhooks supporting card processors, digital wallets, and auto-refunds.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5437" y="3532733"/>
            <a:ext cx="278159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QR E-Ticketing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5437" y="3808958"/>
            <a:ext cx="2214562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Generates encrypted dynamic QR passes instantly delivered via Email and SMS.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9125" y="2058739"/>
            <a:ext cx="10953750" cy="852487"/>
          </a:xfrm>
          <a:prstGeom prst="roundRect">
            <a:avLst>
              <a:gd name="adj" fmla="val 13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" y="3406526"/>
            <a:ext cx="10953750" cy="852487"/>
          </a:xfrm>
          <a:prstGeom prst="roundRect">
            <a:avLst>
              <a:gd name="adj" fmla="val 1340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4754314"/>
            <a:ext cx="10953750" cy="852487"/>
          </a:xfrm>
          <a:prstGeom prst="roundRect">
            <a:avLst>
              <a:gd name="adj" fmla="val 13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" y="2275433"/>
            <a:ext cx="1714500" cy="419100"/>
          </a:xfrm>
          <a:prstGeom prst="roundRect">
            <a:avLst>
              <a:gd name="adj" fmla="val 1818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9150" y="3623220"/>
            <a:ext cx="1714500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9150" y="4971008"/>
            <a:ext cx="1714500" cy="41910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2" y="3082676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37" y="4430464"/>
            <a:ext cx="1714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Three-Tiered Scalable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75046" y="3063626"/>
            <a:ext cx="12942093" cy="1905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Inter"/>
              </a:rPr>
              <a:t>REST APIs &amp; WebSockets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375046" y="4411414"/>
            <a:ext cx="12942093" cy="1905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Inter"/>
              </a:rPr>
              <a:t>JDBC &amp; In-Memory Redis 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37" y="2389733"/>
            <a:ext cx="1762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730A3"/>
                </a:solidFill>
                <a:latin typeface="Inter"/>
              </a:rPr>
              <a:t>Presentation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337" y="3737520"/>
            <a:ext cx="1762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Application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337" y="5085308"/>
            <a:ext cx="1762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2400E"/>
                </a:solidFill>
                <a:latin typeface="Inter"/>
              </a:rPr>
              <a:t>Data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2250" y="2258764"/>
            <a:ext cx="942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React.js Web &amp; Mobile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2250" y="2496889"/>
            <a:ext cx="9429750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Responsive user interface rendering interactive seat maps, live booking timers, and user dashboards.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2250" y="3606551"/>
            <a:ext cx="942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Node.js / Spring Boot Microservices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2250" y="3844676"/>
            <a:ext cx="9429750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Manages event catalog, seat lock synchronization, payment webhooks, and QR ticket generation.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2250" y="4954339"/>
            <a:ext cx="942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MySQL (RDBMS) &amp; Redis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2250" y="5192464"/>
            <a:ext cx="9429750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ACID compliant transaction log for finalized bookings backed by Redis in-memory locks for seat reservations.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43287" y="1299120"/>
            <a:ext cx="5305425" cy="211455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6762" y="3718470"/>
            <a:ext cx="3038475" cy="1466850"/>
          </a:xfrm>
          <a:prstGeom prst="roundRect">
            <a:avLst>
              <a:gd name="adj" fmla="val 7792"/>
            </a:avLst>
          </a:prstGeom>
          <a:solidFill>
            <a:srgbClr val="FAFAFA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6762" y="5337720"/>
            <a:ext cx="3038475" cy="1466850"/>
          </a:xfrm>
          <a:prstGeom prst="roundRect">
            <a:avLst>
              <a:gd name="adj" fmla="val 7792"/>
            </a:avLst>
          </a:prstGeom>
          <a:solidFill>
            <a:srgbClr val="FAFAFA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Concurrency Handling &amp; Double-Booking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1412" y="1537245"/>
            <a:ext cx="63382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Distributed Locking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1412" y="1918245"/>
            <a:ext cx="6036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1. Seat Request: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User selects seat #42 in venue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1412" y="2261145"/>
            <a:ext cx="6036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2. Redis Mutex: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System places a 10-minute key expiry 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1412" y="2604045"/>
            <a:ext cx="6036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3. State Broadcast: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Seat shows 'Reserved' across all clients.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1412" y="2946945"/>
            <a:ext cx="6036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4. Checkout Timeout: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Unpaid seats auto-release to waiting queue.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4609" y="3956595"/>
            <a:ext cx="320278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4F46E5"/>
                </a:solidFill>
                <a:latin typeface="Inter"/>
              </a:rPr>
              <a:t>&lt; 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4609" y="4718595"/>
            <a:ext cx="3202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64748B"/>
                </a:solidFill>
                <a:latin typeface="Inter"/>
              </a:rPr>
              <a:t>Lock Acquire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4609" y="5575845"/>
            <a:ext cx="320278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59669"/>
                </a:solidFill>
                <a:latin typeface="Inter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609" y="6337845"/>
            <a:ext cx="3202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64748B"/>
                </a:solidFill>
                <a:latin typeface="Inter"/>
              </a:rPr>
              <a:t>Overselling Prevention Guarantee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9125" y="2956470"/>
            <a:ext cx="2624137" cy="17526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5662" y="2956470"/>
            <a:ext cx="2624137" cy="17526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956470"/>
            <a:ext cx="2624137" cy="17526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48737" y="2956470"/>
            <a:ext cx="2624137" cy="17526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3175545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425" y="3175545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012" y="3175545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3175545"/>
            <a:ext cx="1714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DATABASE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Core Data Schema &amp; Entity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556545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JetBrains Mono"/>
              </a:rPr>
              <a:t>user_id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(PK)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794670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full_name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032795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email_address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4270920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hashed_password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5687" y="3556545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JetBrains Mono"/>
              </a:rPr>
              <a:t>event_id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5687" y="3794670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5687" y="4032795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venue_id (FK)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5687" y="4270920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total_seats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225" y="3556545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JetBrains Mono"/>
              </a:rPr>
              <a:t>booking_id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(PK)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3794670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user_id (FK)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4032795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total_amount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4270920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payment_status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8762" y="3556545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JetBrains Mono"/>
              </a:rPr>
              <a:t>ticket_id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(PK)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8762" y="3794670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booking_id (FK)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762" y="4032795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seat_number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762" y="4270920"/>
            <a:ext cx="2780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qr_code_hash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" y="3156495"/>
            <a:ext cx="809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Inter"/>
              </a:rPr>
              <a:t>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5687" y="3156495"/>
            <a:ext cx="914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Inter"/>
              </a:rPr>
              <a:t>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2225" y="3156495"/>
            <a:ext cx="11144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Inter"/>
              </a:rPr>
              <a:t>BOOKINGS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8762" y="3156495"/>
            <a:ext cx="9715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Inter"/>
              </a:rPr>
              <a:t>TICKETS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9125" y="2575470"/>
            <a:ext cx="536257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75470"/>
            <a:ext cx="536257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3947070"/>
            <a:ext cx="536257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47070"/>
            <a:ext cx="536257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813595"/>
            <a:ext cx="400050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813595"/>
            <a:ext cx="419100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185195"/>
            <a:ext cx="400050" cy="428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185195"/>
            <a:ext cx="419100" cy="428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2927895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292789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4299495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725" y="4299495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QUALITY ATTRIBUTES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Non-Functional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00" y="2813595"/>
            <a:ext cx="56882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Low Latency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9700" y="3051720"/>
            <a:ext cx="44291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Catalog queries and filtering return results in under 200ms using Elasticsearch indexing.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9925" y="2813595"/>
            <a:ext cx="5172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High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925" y="3051720"/>
            <a:ext cx="4410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99.99% uptime target maintained via auto-scaling server clusters and multi-region failover.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700" y="4185195"/>
            <a:ext cx="56882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Payment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9700" y="4423320"/>
            <a:ext cx="44291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Full PCI-DSS compliance using TLS 1.3 encryption and tokenized payment gateway handshakes.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9925" y="4185195"/>
            <a:ext cx="5172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Horizontal 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9925" y="4423320"/>
            <a:ext cx="4410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Stateless microservices designed for seamless container replication during flash traffic spikes.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19125" y="2151608"/>
          <a:ext cx="10953749" cy="33623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70782"/>
                <a:gridCol w="3174057"/>
                <a:gridCol w="5808910"/>
              </a:tblGrid>
              <a:tr h="67246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Technology Adopted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Architectural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Frontend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Inter"/>
                        </a:rPr>
                        <a:t>React.js / Tailwind CSS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Interactive component UI &amp; seating layout visualization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Backend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Inter"/>
                        </a:rPr>
                        <a:t>Node.js / Express / Spring Boot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RESTful endpoints, order queueing, &amp; service logic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Database &amp; Cache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Inter"/>
                        </a:rPr>
                        <a:t>MySQL &amp; Redis Cache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Transactional records &amp; microsecond seat locking key-store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Validation &amp; Infra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Inter"/>
                        </a:rPr>
                        <a:t>Docker &amp; Dynamic QR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Encrypted ticket scanning and microservices containerization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IMPLEMENTATION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Core Technology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9125" y="3066008"/>
            <a:ext cx="349880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6525" y="3066008"/>
            <a:ext cx="349880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3925" y="3066008"/>
            <a:ext cx="349880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4590008"/>
            <a:ext cx="3498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066008"/>
            <a:ext cx="34988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3066008"/>
            <a:ext cx="9525" cy="1533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8400" y="3066008"/>
            <a:ext cx="9525" cy="1533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6525" y="4590008"/>
            <a:ext cx="3498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6525" y="3066008"/>
            <a:ext cx="34988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6525" y="3066008"/>
            <a:ext cx="9525" cy="1533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5800" y="3066008"/>
            <a:ext cx="9525" cy="1533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3925" y="4590008"/>
            <a:ext cx="3498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3925" y="3066008"/>
            <a:ext cx="34988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3925" y="3066008"/>
            <a:ext cx="9525" cy="1533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63201" y="3066008"/>
            <a:ext cx="9525" cy="1533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Project Deliverables &amp; 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332708"/>
            <a:ext cx="39670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Zero Overselling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675608"/>
            <a:ext cx="3117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Redis locks effectively eliminate duplicate ticket allocations during high concurrency periods.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4650" y="3332708"/>
            <a:ext cx="39670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Automated 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4650" y="3675608"/>
            <a:ext cx="3117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Dynamic QR validation streamlines physical venue access control and eliminates ticket fraud.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2050" y="3332708"/>
            <a:ext cx="387994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Production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2050" y="3675608"/>
            <a:ext cx="3117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Layered microservice architecture guarantees horizontal expansion capacity as traffic scales.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90925" y="4355306"/>
            <a:ext cx="5010150" cy="538162"/>
          </a:xfrm>
          <a:prstGeom prst="roundRect">
            <a:avLst>
              <a:gd name="adj" fmla="val 21238"/>
            </a:avLst>
          </a:prstGeom>
          <a:solidFill>
            <a:srgbClr val="FAFAFA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64531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2135981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20803" y="2802731"/>
            <a:ext cx="315039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479006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Questions &amp; Answers | Event Ticket Booking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2375" y="4517231"/>
            <a:ext cx="1400175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Name: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N. Dileep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5400" y="4517231"/>
            <a:ext cx="333375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Inter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6621" y="4517231"/>
            <a:ext cx="1678781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Batch: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pfs-vsp-006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0" y="4517231"/>
            <a:ext cx="333375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Inter"/>
              </a:rPr>
              <a:t>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9475" y="4517231"/>
            <a:ext cx="1200150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ID: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CGVI0205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17529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2912864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6400" y="1089570"/>
            <a:ext cx="10029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https://media.istockphoto.com/id/2205014212/vector/smartphone-calendar-app-concept-to-do-list-tasks-ui-or-ux-design-mockup-mobile-planner.jpg?s=612x612&amp;w=0&amp;k=20&amp;c=dvbOk6jflPeC-fsULH5gSNW2knJO1_oXOvi9gTnvtr8=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1508670"/>
            <a:ext cx="27741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